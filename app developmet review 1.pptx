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59" r:id="rId7"/>
    <p:sldId id="277" r:id="rId8"/>
    <p:sldId id="260" r:id="rId9"/>
    <p:sldId id="261" r:id="rId10"/>
    <p:sldId id="262" r:id="rId11"/>
    <p:sldId id="263" r:id="rId12"/>
    <p:sldId id="264" r:id="rId13"/>
    <p:sldId id="276" r:id="rId14"/>
    <p:sldId id="279" r:id="rId15"/>
    <p:sldId id="278" r:id="rId16"/>
    <p:sldId id="280" r:id="rId17"/>
  </p:sldIdLst>
  <p:sldSz cx="9753600" cy="7315200"/>
  <p:notesSz cx="6858000" cy="9144000"/>
  <p:embeddedFontLst>
    <p:embeddedFont>
      <p:font typeface="Times New Roman Bold" panose="02030802070405020303"/>
      <p:bold r:id="rId21"/>
    </p:embeddedFont>
    <p:embeddedFont>
      <p:font typeface="Calibri" panose="020F050202020403020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86"/>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developers.google.com/maps/documentation/android" TargetMode="External"/><Relationship Id="rId1" Type="http://schemas.openxmlformats.org/officeDocument/2006/relationships/hyperlink" Target="https://indianrailways.gov.in&#1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2000" y="6019800"/>
            <a:ext cx="4333240" cy="398145"/>
          </a:xfrm>
          <a:prstGeom prst="rect">
            <a:avLst/>
          </a:prstGeom>
        </p:spPr>
        <p:txBody>
          <a:bodyPr wrap="square" lIns="0" tIns="0" rIns="0" bIns="0" rtlCol="0" anchor="t">
            <a:noAutofit/>
          </a:bodyPr>
          <a:lstStyle/>
          <a:p>
            <a:pPr algn="ctr">
              <a:lnSpc>
                <a:spcPts val="3840"/>
              </a:lnSpc>
            </a:pPr>
            <a:r>
              <a:rPr lang="en-US" sz="3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                                                                               </a:t>
            </a:r>
            <a:endParaRPr lang="en-US" sz="3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TextBox 3"/>
          <p:cNvSpPr txBox="1"/>
          <p:nvPr/>
        </p:nvSpPr>
        <p:spPr>
          <a:xfrm>
            <a:off x="-43815" y="2679065"/>
            <a:ext cx="9705975" cy="1575435"/>
          </a:xfrm>
          <a:prstGeom prst="rect">
            <a:avLst/>
          </a:prstGeom>
        </p:spPr>
        <p:txBody>
          <a:bodyPr wrap="square" lIns="0" tIns="0" rIns="0" bIns="0" rtlCol="0" anchor="t">
            <a:spAutoFit/>
          </a:bodyPr>
          <a:lstStyle/>
          <a:p>
            <a:pPr algn="ctr">
              <a:lnSpc>
                <a:spcPts val="4095"/>
              </a:lnSpc>
            </a:pPr>
            <a:r>
              <a:rPr lang="en-IN" altLang="en-US" sz="3415" b="1">
                <a:solidFill>
                  <a:srgbClr val="FF0000"/>
                </a:solidFill>
                <a:latin typeface="Times New Roman Bold" panose="02030802070405020303"/>
                <a:ea typeface="Times New Roman Bold" panose="02030802070405020303"/>
                <a:cs typeface="Times New Roman Bold" panose="02030802070405020303"/>
                <a:sym typeface="Times New Roman Bold" panose="02030802070405020303"/>
              </a:rPr>
              <a:t>CSC1371 APPLICATION DEVELOPMENT</a:t>
            </a:r>
            <a:r>
              <a:rPr lang="en-US" sz="3415" b="1">
                <a:solidFill>
                  <a:srgbClr val="FF0000"/>
                </a:solidFill>
                <a:latin typeface="Times New Roman Bold" panose="02030802070405020303"/>
                <a:ea typeface="Times New Roman Bold" panose="02030802070405020303"/>
                <a:cs typeface="Times New Roman Bold" panose="02030802070405020303"/>
                <a:sym typeface="Times New Roman Bold" panose="02030802070405020303"/>
              </a:rPr>
              <a:t>  (</a:t>
            </a:r>
            <a:r>
              <a:rPr lang="en-IN" altLang="en-US" sz="3415" b="1">
                <a:solidFill>
                  <a:srgbClr val="FF0000"/>
                </a:solidFill>
                <a:latin typeface="Times New Roman Bold" panose="02030802070405020303"/>
                <a:ea typeface="Times New Roman Bold" panose="02030802070405020303"/>
                <a:cs typeface="Times New Roman Bold" panose="02030802070405020303"/>
                <a:sym typeface="Times New Roman Bold" panose="02030802070405020303"/>
              </a:rPr>
              <a:t>PRBL</a:t>
            </a:r>
            <a:r>
              <a:rPr lang="en-US" sz="3415" b="1">
                <a:solidFill>
                  <a:srgbClr val="FF0000"/>
                </a:solidFill>
                <a:latin typeface="Times New Roman Bold" panose="02030802070405020303"/>
                <a:ea typeface="Times New Roman Bold" panose="02030802070405020303"/>
                <a:cs typeface="Times New Roman Bold" panose="02030802070405020303"/>
                <a:sym typeface="Times New Roman Bold" panose="02030802070405020303"/>
              </a:rPr>
              <a:t>) </a:t>
            </a:r>
            <a:endParaRPr lang="en-US" sz="3415" b="1">
              <a:solidFill>
                <a:srgbClr val="FF0000"/>
              </a:solidFill>
              <a:latin typeface="Times New Roman Bold" panose="02030802070405020303"/>
              <a:ea typeface="Times New Roman Bold" panose="02030802070405020303"/>
              <a:cs typeface="Times New Roman Bold" panose="02030802070405020303"/>
              <a:sym typeface="Times New Roman Bold" panose="02030802070405020303"/>
            </a:endParaRPr>
          </a:p>
          <a:p>
            <a:pPr algn="ctr">
              <a:lnSpc>
                <a:spcPts val="4095"/>
              </a:lnSpc>
            </a:pPr>
            <a:r>
              <a:rPr lang="en-US" sz="3415" b="1">
                <a:solidFill>
                  <a:srgbClr val="FF0000"/>
                </a:solidFill>
                <a:latin typeface="Times New Roman Bold" panose="02030802070405020303"/>
                <a:ea typeface="Times New Roman Bold" panose="02030802070405020303"/>
                <a:cs typeface="Times New Roman Bold" panose="02030802070405020303"/>
                <a:sym typeface="Times New Roman Bold" panose="02030802070405020303"/>
              </a:rPr>
              <a:t>PROJECT REVIEW</a:t>
            </a:r>
            <a:endParaRPr lang="en-US" sz="3415" b="1">
              <a:solidFill>
                <a:srgbClr val="FF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4" name="TextBox 4"/>
          <p:cNvSpPr txBox="1"/>
          <p:nvPr/>
        </p:nvSpPr>
        <p:spPr>
          <a:xfrm>
            <a:off x="-21590" y="2177415"/>
            <a:ext cx="9846310" cy="375920"/>
          </a:xfrm>
          <a:prstGeom prst="rect">
            <a:avLst/>
          </a:prstGeom>
        </p:spPr>
        <p:txBody>
          <a:bodyPr wrap="square" lIns="0" tIns="0" rIns="0" bIns="0" rtlCol="0" anchor="t">
            <a:noAutofit/>
          </a:bodyPr>
          <a:lstStyle/>
          <a:p>
            <a:pPr algn="ctr">
              <a:lnSpc>
                <a:spcPts val="2945"/>
              </a:lnSpc>
            </a:pPr>
            <a:r>
              <a:rPr lang="en-US" sz="2455" b="1">
                <a:solidFill>
                  <a:srgbClr val="0F243E"/>
                </a:solidFill>
                <a:latin typeface="Times New Roman Bold" panose="02030802070405020303"/>
                <a:ea typeface="Times New Roman Bold" panose="02030802070405020303"/>
                <a:cs typeface="Times New Roman Bold" panose="02030802070405020303"/>
                <a:sym typeface="Times New Roman Bold" panose="02030802070405020303"/>
              </a:rPr>
              <a:t>DEPARTMENT OF COMPUTER SCIENCE AND ENGINEERING</a:t>
            </a:r>
            <a:endParaRPr lang="en-US" sz="2455" b="1">
              <a:solidFill>
                <a:srgbClr val="0F243E"/>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nvGrpSpPr>
          <p:cNvPr id="5" name="Group 5"/>
          <p:cNvGrpSpPr>
            <a:grpSpLocks noChangeAspect="1"/>
          </p:cNvGrpSpPr>
          <p:nvPr/>
        </p:nvGrpSpPr>
        <p:grpSpPr>
          <a:xfrm rot="0">
            <a:off x="1463040" y="132080"/>
            <a:ext cx="6827522" cy="1981201"/>
            <a:chOff x="0" y="0"/>
            <a:chExt cx="9103363" cy="2641601"/>
          </a:xfrm>
        </p:grpSpPr>
        <p:sp>
          <p:nvSpPr>
            <p:cNvPr id="6" name="Freeform 6"/>
            <p:cNvSpPr/>
            <p:nvPr/>
          </p:nvSpPr>
          <p:spPr>
            <a:xfrm>
              <a:off x="0" y="0"/>
              <a:ext cx="9103360" cy="2641600"/>
            </a:xfrm>
            <a:custGeom>
              <a:avLst/>
              <a:gdLst/>
              <a:ahLst/>
              <a:cxnLst/>
              <a:rect l="l" t="t" r="r" b="b"/>
              <a:pathLst>
                <a:path w="9103360" h="2641600">
                  <a:moveTo>
                    <a:pt x="0" y="0"/>
                  </a:moveTo>
                  <a:lnTo>
                    <a:pt x="9103360" y="0"/>
                  </a:lnTo>
                  <a:lnTo>
                    <a:pt x="9103360" y="2641600"/>
                  </a:lnTo>
                  <a:lnTo>
                    <a:pt x="0" y="2641600"/>
                  </a:lnTo>
                  <a:lnTo>
                    <a:pt x="0" y="0"/>
                  </a:lnTo>
                  <a:close/>
                </a:path>
              </a:pathLst>
            </a:custGeom>
            <a:blipFill>
              <a:blip r:embed="rId1"/>
              <a:stretch>
                <a:fillRect r="-37"/>
              </a:stretch>
            </a:blipFill>
          </p:spPr>
        </p:sp>
      </p:grpSp>
      <p:sp>
        <p:nvSpPr>
          <p:cNvPr id="7" name="TextBox 7"/>
          <p:cNvSpPr txBox="1"/>
          <p:nvPr/>
        </p:nvSpPr>
        <p:spPr>
          <a:xfrm>
            <a:off x="381000" y="4114800"/>
            <a:ext cx="4331970" cy="1626235"/>
          </a:xfrm>
          <a:prstGeom prst="rect">
            <a:avLst/>
          </a:prstGeom>
        </p:spPr>
        <p:txBody>
          <a:bodyPr lIns="0" tIns="0" rIns="0" bIns="0" rtlCol="0" anchor="t">
            <a:noAutofit/>
          </a:bodyPr>
          <a:lstStyle/>
          <a:p>
            <a:pPr algn="l">
              <a:lnSpc>
                <a:spcPts val="3000"/>
              </a:lnSpc>
            </a:pPr>
            <a:r>
              <a:rPr lang="en-US" sz="2500">
                <a:solidFill>
                  <a:srgbClr val="7030A0"/>
                </a:solidFill>
                <a:latin typeface="Times New Roman" panose="02020603050405020304"/>
                <a:ea typeface="Times New Roman" panose="02020603050405020304"/>
                <a:cs typeface="Times New Roman" panose="02020603050405020304"/>
                <a:sym typeface="Times New Roman" panose="02020603050405020304"/>
              </a:rPr>
              <a:t>Presented By:</a:t>
            </a:r>
            <a:r>
              <a:rPr lang="en-GB" altLang="en-US" sz="2420">
                <a:solidFill>
                  <a:srgbClr val="7030A0"/>
                </a:solidFill>
                <a:latin typeface="Times New Roman" panose="02020603050405020304"/>
                <a:ea typeface="Times New Roman" panose="02020603050405020304"/>
                <a:cs typeface="Times New Roman" panose="02020603050405020304"/>
                <a:sym typeface="Times New Roman" panose="02020603050405020304"/>
              </a:rPr>
              <a:t>  </a:t>
            </a:r>
            <a:endParaRPr lang="en-GB" altLang="en-US" sz="2420">
              <a:solidFill>
                <a:srgbClr val="7030A0"/>
              </a:solidFill>
              <a:latin typeface="Times New Roman" panose="02020603050405020304"/>
              <a:ea typeface="Times New Roman" panose="02020603050405020304"/>
              <a:cs typeface="Times New Roman" panose="02020603050405020304"/>
              <a:sym typeface="Times New Roman" panose="02020603050405020304"/>
            </a:endParaRPr>
          </a:p>
          <a:p>
            <a:pPr indent="457200" algn="l">
              <a:lnSpc>
                <a:spcPts val="3000"/>
              </a:lnSpc>
            </a:pPr>
            <a:r>
              <a:rPr lang="en-GB" altLang="en-US" sz="2420">
                <a:solidFill>
                  <a:srgbClr val="7030A0"/>
                </a:solidFill>
                <a:latin typeface="Times New Roman" panose="02020603050405020304"/>
                <a:ea typeface="Times New Roman" panose="02020603050405020304"/>
                <a:cs typeface="Times New Roman" panose="02020603050405020304"/>
                <a:sym typeface="Times New Roman" panose="02020603050405020304"/>
              </a:rPr>
              <a:t> </a:t>
            </a:r>
            <a:r>
              <a:rPr lang="en-US" altLang="en-GB" sz="2420">
                <a:solidFill>
                  <a:srgbClr val="7030A0"/>
                </a:solidFill>
                <a:latin typeface="Times New Roman" panose="02020603050405020304"/>
                <a:ea typeface="Times New Roman" panose="02020603050405020304"/>
                <a:cs typeface="Times New Roman" panose="02020603050405020304"/>
                <a:sym typeface="Times New Roman" panose="02020603050405020304"/>
              </a:rPr>
              <a:t>MITHUN B</a:t>
            </a:r>
            <a:br>
              <a:rPr lang="en-US" altLang="en-GB" sz="2420">
                <a:solidFill>
                  <a:srgbClr val="7030A0"/>
                </a:solidFill>
                <a:latin typeface="Times New Roman" panose="02020603050405020304"/>
                <a:ea typeface="Times New Roman" panose="02020603050405020304"/>
                <a:cs typeface="Times New Roman" panose="02020603050405020304"/>
                <a:sym typeface="Times New Roman" panose="02020603050405020304"/>
              </a:rPr>
            </a:br>
            <a:r>
              <a:rPr lang="en-US" altLang="en-GB" sz="2420">
                <a:solidFill>
                  <a:srgbClr val="7030A0"/>
                </a:solidFill>
                <a:latin typeface="Times New Roman" panose="02020603050405020304"/>
                <a:ea typeface="Times New Roman" panose="02020603050405020304"/>
                <a:cs typeface="Times New Roman" panose="02020603050405020304"/>
                <a:sym typeface="Times New Roman" panose="02020603050405020304"/>
              </a:rPr>
              <a:t>       NAVEEN MU</a:t>
            </a:r>
            <a:br>
              <a:rPr lang="en-US" altLang="en-GB" sz="2420">
                <a:solidFill>
                  <a:srgbClr val="7030A0"/>
                </a:solidFill>
                <a:latin typeface="Times New Roman" panose="02020603050405020304"/>
                <a:ea typeface="Times New Roman" panose="02020603050405020304"/>
                <a:cs typeface="Times New Roman" panose="02020603050405020304"/>
                <a:sym typeface="Times New Roman" panose="02020603050405020304"/>
              </a:rPr>
            </a:br>
            <a:r>
              <a:rPr lang="en-US" altLang="en-GB" sz="2420">
                <a:solidFill>
                  <a:srgbClr val="7030A0"/>
                </a:solidFill>
                <a:latin typeface="Times New Roman" panose="02020603050405020304"/>
                <a:ea typeface="Times New Roman" panose="02020603050405020304"/>
                <a:cs typeface="Times New Roman" panose="02020603050405020304"/>
                <a:sym typeface="Times New Roman" panose="02020603050405020304"/>
              </a:rPr>
              <a:t>       PRANESH S</a:t>
            </a:r>
            <a:r>
              <a:rPr lang="en-GB" altLang="en-US" sz="2420">
                <a:solidFill>
                  <a:srgbClr val="7030A0"/>
                </a:solidFill>
                <a:latin typeface="Times New Roman" panose="02020603050405020304"/>
                <a:ea typeface="Times New Roman" panose="02020603050405020304"/>
                <a:cs typeface="Times New Roman" panose="02020603050405020304"/>
                <a:sym typeface="Times New Roman" panose="02020603050405020304"/>
              </a:rPr>
              <a:t>                     </a:t>
            </a:r>
            <a:endParaRPr lang="en-GB" altLang="en-US" sz="2420">
              <a:solidFill>
                <a:srgbClr val="7030A0"/>
              </a:solidFill>
              <a:latin typeface="Times New Roman" panose="02020603050405020304"/>
              <a:ea typeface="Times New Roman" panose="02020603050405020304"/>
              <a:cs typeface="Times New Roman" panose="02020603050405020304"/>
              <a:sym typeface="Times New Roman" panose="02020603050405020304"/>
            </a:endParaRPr>
          </a:p>
          <a:p>
            <a:pPr lvl="1" algn="l">
              <a:lnSpc>
                <a:spcPts val="2305"/>
              </a:lnSpc>
            </a:pPr>
          </a:p>
          <a:p>
            <a:pPr algn="l">
              <a:lnSpc>
                <a:spcPts val="2305"/>
              </a:lnSpc>
            </a:pPr>
          </a:p>
          <a:p>
            <a:pPr algn="l">
              <a:lnSpc>
                <a:spcPts val="2305"/>
              </a:lnSpc>
            </a:pPr>
            <a:r>
              <a:rPr lang="en-US" sz="25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DATE:19/02/2025</a:t>
            </a:r>
            <a:endParaRPr lang="en-US" sz="25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p>
            <a:pPr algn="l">
              <a:lnSpc>
                <a:spcPts val="2305"/>
              </a:lnSpc>
            </a:pPr>
            <a:endParaRPr lang="en-US" sz="25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p>
            <a:pPr algn="l">
              <a:lnSpc>
                <a:spcPts val="2305"/>
              </a:lnSpc>
            </a:pPr>
          </a:p>
          <a:p>
            <a:pPr algn="l">
              <a:lnSpc>
                <a:spcPts val="2305"/>
              </a:lnSpc>
            </a:pPr>
          </a:p>
        </p:txBody>
      </p:sp>
      <p:sp>
        <p:nvSpPr>
          <p:cNvPr id="9" name="Text Box 8"/>
          <p:cNvSpPr txBox="1"/>
          <p:nvPr/>
        </p:nvSpPr>
        <p:spPr>
          <a:xfrm>
            <a:off x="5715000" y="4114800"/>
            <a:ext cx="3690620" cy="1304290"/>
          </a:xfrm>
          <a:prstGeom prst="rect">
            <a:avLst/>
          </a:prstGeom>
          <a:noFill/>
        </p:spPr>
        <p:txBody>
          <a:bodyPr wrap="square" rtlCol="0" anchor="t">
            <a:noAutofit/>
          </a:bodyPr>
          <a:p>
            <a:pPr algn="l">
              <a:lnSpc>
                <a:spcPts val="3000"/>
              </a:lnSpc>
            </a:pPr>
            <a:r>
              <a:rPr lang="en-GB" altLang="en-US" sz="2500">
                <a:solidFill>
                  <a:srgbClr val="7030A0"/>
                </a:solidFill>
                <a:latin typeface="Times New Roman" panose="02020603050405020304"/>
                <a:ea typeface="Times New Roman" panose="02020603050405020304"/>
                <a:cs typeface="Times New Roman" panose="02020603050405020304"/>
                <a:sym typeface="Times New Roman" panose="02020603050405020304"/>
              </a:rPr>
              <a:t>Guided</a:t>
            </a:r>
            <a:r>
              <a:rPr lang="en-US" sz="2500">
                <a:solidFill>
                  <a:srgbClr val="7030A0"/>
                </a:solidFill>
                <a:latin typeface="Times New Roman" panose="02020603050405020304"/>
                <a:ea typeface="Times New Roman" panose="02020603050405020304"/>
                <a:cs typeface="Times New Roman" panose="02020603050405020304"/>
                <a:sym typeface="Times New Roman" panose="02020603050405020304"/>
              </a:rPr>
              <a:t> B</a:t>
            </a:r>
            <a:r>
              <a:rPr lang="en-GB" altLang="en-US" sz="2500">
                <a:solidFill>
                  <a:srgbClr val="7030A0"/>
                </a:solidFill>
                <a:latin typeface="Times New Roman" panose="02020603050405020304"/>
                <a:ea typeface="Times New Roman" panose="02020603050405020304"/>
                <a:cs typeface="Times New Roman" panose="02020603050405020304"/>
                <a:sym typeface="Times New Roman" panose="02020603050405020304"/>
              </a:rPr>
              <a:t>y</a:t>
            </a:r>
            <a:r>
              <a:rPr lang="en-US" sz="2500">
                <a:solidFill>
                  <a:srgbClr val="7030A0"/>
                </a:solidFill>
                <a:latin typeface="Times New Roman" panose="02020603050405020304"/>
                <a:ea typeface="Times New Roman" panose="02020603050405020304"/>
                <a:cs typeface="Times New Roman" panose="02020603050405020304"/>
                <a:sym typeface="Times New Roman" panose="02020603050405020304"/>
              </a:rPr>
              <a:t>:</a:t>
            </a:r>
            <a:endParaRPr lang="en-US" sz="2500">
              <a:solidFill>
                <a:srgbClr val="7030A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905"/>
              </a:lnSpc>
            </a:pPr>
            <a:endParaRPr lang="en-GB" altLang="en-US"/>
          </a:p>
          <a:p>
            <a:pPr algn="l">
              <a:lnSpc>
                <a:spcPts val="2905"/>
              </a:lnSpc>
            </a:pPr>
            <a:r>
              <a:rPr lang="en-US" sz="2420">
                <a:solidFill>
                  <a:srgbClr val="7030A0"/>
                </a:solidFill>
                <a:latin typeface="Times New Roman" panose="02020603050405020304"/>
                <a:ea typeface="Times New Roman" panose="02020603050405020304"/>
                <a:cs typeface="Times New Roman" panose="02020603050405020304"/>
                <a:sym typeface="Times New Roman" panose="02020603050405020304"/>
              </a:rPr>
              <a:t> </a:t>
            </a:r>
            <a:r>
              <a:rPr lang="en-GB" altLang="en-US" sz="2420">
                <a:solidFill>
                  <a:srgbClr val="7030A0"/>
                </a:solidFill>
                <a:latin typeface="Times New Roman" panose="02020603050405020304"/>
                <a:ea typeface="Times New Roman" panose="02020603050405020304"/>
                <a:cs typeface="Times New Roman" panose="02020603050405020304"/>
                <a:sym typeface="Times New Roman" panose="02020603050405020304"/>
              </a:rPr>
              <a:t>M</a:t>
            </a:r>
            <a:r>
              <a:rPr lang="en-IN" altLang="en-GB" sz="2420">
                <a:solidFill>
                  <a:srgbClr val="7030A0"/>
                </a:solidFill>
                <a:latin typeface="Times New Roman" panose="02020603050405020304"/>
                <a:ea typeface="Times New Roman" panose="02020603050405020304"/>
                <a:cs typeface="Times New Roman" panose="02020603050405020304"/>
                <a:sym typeface="Times New Roman" panose="02020603050405020304"/>
              </a:rPr>
              <a:t>s.M.Subashree</a:t>
            </a:r>
            <a:endParaRPr lang="en-GB" altLang="en-US" sz="2420">
              <a:solidFill>
                <a:srgbClr val="7030A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905"/>
              </a:lnSpc>
            </a:pPr>
            <a:r>
              <a:rPr lang="en-GB" altLang="en-US" sz="2420">
                <a:solidFill>
                  <a:srgbClr val="7030A0"/>
                </a:solidFill>
                <a:latin typeface="Times New Roman" panose="02020603050405020304"/>
                <a:ea typeface="Times New Roman" panose="02020603050405020304"/>
                <a:cs typeface="Times New Roman" panose="02020603050405020304"/>
                <a:sym typeface="Times New Roman" panose="02020603050405020304"/>
              </a:rPr>
              <a:t>                                         </a:t>
            </a:r>
            <a:endParaRPr lang="en-US" sz="2420">
              <a:solidFill>
                <a:srgbClr val="7030A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305"/>
              </a:lnSpc>
            </a:pPr>
            <a:endParaRPr lang="en-GB" altLang="en-US"/>
          </a:p>
          <a:p>
            <a:pPr algn="l">
              <a:lnSpc>
                <a:spcPts val="2305"/>
              </a:lnSpc>
            </a:pPr>
            <a:endParaRPr lang="en-GB" altLang="en-US"/>
          </a:p>
          <a:p>
            <a:pPr algn="l">
              <a:lnSpc>
                <a:spcPts val="2305"/>
              </a:lnSpc>
            </a:pPr>
            <a:endParaRPr lang="en-GB" altLang="en-US"/>
          </a:p>
          <a:p>
            <a:pPr algn="l">
              <a:lnSpc>
                <a:spcPts val="2305"/>
              </a:lnSpc>
            </a:pPr>
            <a:endParaRPr lang="en-GB" altLang="en-US"/>
          </a:p>
          <a:p>
            <a:pPr algn="l">
              <a:lnSpc>
                <a:spcPts val="2305"/>
              </a:lnSpc>
            </a:pPr>
            <a:endParaRPr lang="en-GB" altLang="en-US"/>
          </a:p>
          <a:p>
            <a:pPr algn="l">
              <a:lnSpc>
                <a:spcPts val="2305"/>
              </a:lnSpc>
            </a:pPr>
            <a:endParaRPr lang="en-GB" altLang="en-US"/>
          </a:p>
          <a:p>
            <a:pPr algn="l">
              <a:lnSpc>
                <a:spcPts val="2305"/>
              </a:lnSpc>
            </a:pPr>
            <a:endParaRPr lang="en-GB"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650240" y="2194560"/>
            <a:ext cx="8453120" cy="1568000"/>
            <a:chOff x="0" y="0"/>
            <a:chExt cx="11270827" cy="2090667"/>
          </a:xfrm>
        </p:grpSpPr>
        <p:sp>
          <p:nvSpPr>
            <p:cNvPr id="3" name="Freeform 3"/>
            <p:cNvSpPr/>
            <p:nvPr/>
          </p:nvSpPr>
          <p:spPr>
            <a:xfrm>
              <a:off x="0" y="0"/>
              <a:ext cx="11270827" cy="2090667"/>
            </a:xfrm>
            <a:custGeom>
              <a:avLst/>
              <a:gdLst/>
              <a:ahLst/>
              <a:cxnLst/>
              <a:rect l="l" t="t" r="r" b="b"/>
              <a:pathLst>
                <a:path w="11270827" h="2090667">
                  <a:moveTo>
                    <a:pt x="0" y="0"/>
                  </a:moveTo>
                  <a:lnTo>
                    <a:pt x="11270827" y="0"/>
                  </a:lnTo>
                  <a:lnTo>
                    <a:pt x="11270827" y="2090667"/>
                  </a:lnTo>
                  <a:lnTo>
                    <a:pt x="0" y="2090667"/>
                  </a:lnTo>
                  <a:close/>
                </a:path>
              </a:pathLst>
            </a:custGeom>
            <a:solidFill>
              <a:srgbClr val="000000">
                <a:alpha val="0"/>
              </a:srgbClr>
            </a:solidFill>
          </p:spPr>
        </p:sp>
        <p:sp>
          <p:nvSpPr>
            <p:cNvPr id="4" name="TextBox 4"/>
            <p:cNvSpPr txBox="1"/>
            <p:nvPr/>
          </p:nvSpPr>
          <p:spPr>
            <a:xfrm>
              <a:off x="0" y="-85725"/>
              <a:ext cx="11270827" cy="2176392"/>
            </a:xfrm>
            <a:prstGeom prst="rect">
              <a:avLst/>
            </a:prstGeom>
          </p:spPr>
          <p:txBody>
            <a:bodyPr lIns="0" tIns="0" rIns="0" bIns="0" rtlCol="0" anchor="ctr"/>
            <a:lstStyle/>
            <a:p>
              <a:pPr algn="ctr">
                <a:lnSpc>
                  <a:spcPts val="4610"/>
                </a:lnSpc>
              </a:pPr>
              <a:r>
                <a:rPr lang="en-US" altLang="en-US" sz="3840">
                  <a:solidFill>
                    <a:srgbClr val="FF0000"/>
                  </a:solidFill>
                  <a:latin typeface="Times New Roman" panose="02020603050405020304"/>
                  <a:ea typeface="Times New Roman" panose="02020603050405020304"/>
                  <a:cs typeface="Times New Roman" panose="02020603050405020304"/>
                  <a:sym typeface="Times New Roman" panose="02020603050405020304"/>
                </a:rPr>
                <a:t>TrackMyTrain</a:t>
              </a:r>
              <a:r>
                <a:rPr lang="en-US" altLang="en-US" sz="3840">
                  <a:solidFill>
                    <a:srgbClr val="0070C0"/>
                  </a:solidFill>
                  <a:latin typeface="Times New Roman" panose="02020603050405020304"/>
                  <a:ea typeface="Times New Roman" panose="02020603050405020304"/>
                  <a:cs typeface="Times New Roman" panose="02020603050405020304"/>
                  <a:sym typeface="Times New Roman" panose="02020603050405020304"/>
                </a:rPr>
                <a:t> – </a:t>
              </a:r>
              <a:r>
                <a:rPr lang="en-US" altLang="en-US" sz="3840">
                  <a:solidFill>
                    <a:schemeClr val="tx1"/>
                  </a:solidFill>
                  <a:latin typeface="Times New Roman" panose="02020603050405020304"/>
                  <a:ea typeface="Times New Roman" panose="02020603050405020304"/>
                  <a:cs typeface="Times New Roman" panose="02020603050405020304"/>
                  <a:sym typeface="Times New Roman" panose="02020603050405020304"/>
                </a:rPr>
                <a:t>Smart Train Tracking and Information Mobile App</a:t>
              </a:r>
              <a:endParaRPr lang="en-US" altLang="en-US" sz="384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487680" y="292946"/>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85725"/>
              <a:ext cx="11704320" cy="1711325"/>
            </a:xfrm>
            <a:prstGeom prst="rect">
              <a:avLst/>
            </a:prstGeom>
          </p:spPr>
          <p:txBody>
            <a:bodyPr lIns="0" tIns="0" rIns="0" bIns="0" rtlCol="0" anchor="ctr"/>
            <a:lstStyle/>
            <a:p>
              <a:pPr algn="ctr">
                <a:lnSpc>
                  <a:spcPts val="5120"/>
                </a:lnSpc>
              </a:pPr>
              <a:r>
                <a:rPr 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Introduction</a:t>
              </a:r>
              <a:endParaRPr 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5" name="TextBox 5"/>
          <p:cNvSpPr txBox="1"/>
          <p:nvPr/>
        </p:nvSpPr>
        <p:spPr>
          <a:xfrm>
            <a:off x="426690" y="1276713"/>
            <a:ext cx="8595390" cy="576580"/>
          </a:xfrm>
          <a:prstGeom prst="rect">
            <a:avLst/>
          </a:prstGeom>
        </p:spPr>
        <p:txBody>
          <a:bodyPr lIns="0" tIns="0" rIns="0" bIns="0" rtlCol="0" anchor="t">
            <a:spAutoFit/>
          </a:bodyPr>
          <a:lstStyle/>
          <a:p>
            <a:pPr algn="just">
              <a:lnSpc>
                <a:spcPct val="150000"/>
              </a:lnSpc>
            </a:pPr>
            <a:endParaRPr sz="2500"/>
          </a:p>
        </p:txBody>
      </p:sp>
      <p:sp>
        <p:nvSpPr>
          <p:cNvPr id="6" name="Text Box 5"/>
          <p:cNvSpPr txBox="1"/>
          <p:nvPr/>
        </p:nvSpPr>
        <p:spPr>
          <a:xfrm>
            <a:off x="685800" y="2057400"/>
            <a:ext cx="8639175" cy="3566795"/>
          </a:xfrm>
          <a:prstGeom prst="rect">
            <a:avLst/>
          </a:prstGeom>
          <a:noFill/>
        </p:spPr>
        <p:txBody>
          <a:bodyPr wrap="square" rtlCol="0">
            <a:noAutofit/>
          </a:bodyPr>
          <a:p>
            <a:pPr algn="just">
              <a:lnSpc>
                <a:spcPct val="150000"/>
              </a:lnSpc>
            </a:pPr>
            <a:r>
              <a:rPr lang="en-US" altLang="en-US" sz="2500" b="1">
                <a:latin typeface="Times New Roman" panose="02020603050405020304" charset="0"/>
                <a:cs typeface="Times New Roman" panose="02020603050405020304" charset="0"/>
              </a:rPr>
              <a:t>TrackMyTrain</a:t>
            </a:r>
            <a:r>
              <a:rPr lang="en-US" altLang="en-US" sz="2500">
                <a:latin typeface="Times New Roman" panose="02020603050405020304" charset="0"/>
                <a:cs typeface="Times New Roman" panose="02020603050405020304" charset="0"/>
              </a:rPr>
              <a:t> is a mobile application designed to help users track trains easily. It provides train information such as schedule, route, and station details. The app shows live train location on a map and alerts users about delays and arrivals. It also works in offline mode and supports emergency situations.</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506730" y="292946"/>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85725"/>
              <a:ext cx="11704320" cy="1711325"/>
            </a:xfrm>
            <a:prstGeom prst="rect">
              <a:avLst/>
            </a:prstGeom>
          </p:spPr>
          <p:txBody>
            <a:bodyPr lIns="0" tIns="0" rIns="0" bIns="0" rtlCol="0" anchor="ctr"/>
            <a:lstStyle/>
            <a:p>
              <a:pPr algn="ctr">
                <a:lnSpc>
                  <a:spcPts val="5120"/>
                </a:lnSpc>
              </a:pPr>
              <a:r>
                <a:rPr 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Problem Identification</a:t>
              </a:r>
              <a:endParaRPr 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5" name="TextBox 5"/>
          <p:cNvSpPr txBox="1"/>
          <p:nvPr/>
        </p:nvSpPr>
        <p:spPr>
          <a:xfrm>
            <a:off x="579120" y="1198880"/>
            <a:ext cx="8595360" cy="5948680"/>
          </a:xfrm>
          <a:prstGeom prst="rect">
            <a:avLst/>
          </a:prstGeom>
        </p:spPr>
        <p:txBody>
          <a:bodyPr lIns="0" tIns="0" rIns="0" bIns="0" rtlCol="0" anchor="t">
            <a:noAutofit/>
          </a:bodyPr>
          <a:lstStyle/>
          <a:p>
            <a:pPr algn="just">
              <a:lnSpc>
                <a:spcPct val="150000"/>
              </a:lnSpc>
            </a:pPr>
            <a:endParaRPr sz="2500"/>
          </a:p>
        </p:txBody>
      </p:sp>
      <p:sp>
        <p:nvSpPr>
          <p:cNvPr id="6" name="Text Box 5"/>
          <p:cNvSpPr txBox="1"/>
          <p:nvPr/>
        </p:nvSpPr>
        <p:spPr>
          <a:xfrm>
            <a:off x="762000" y="2133600"/>
            <a:ext cx="8385175" cy="2976880"/>
          </a:xfrm>
          <a:prstGeom prst="rect">
            <a:avLst/>
          </a:prstGeom>
          <a:noFill/>
        </p:spPr>
        <p:txBody>
          <a:bodyPr wrap="square" rtlCol="0">
            <a:spAutoFit/>
          </a:bodyPr>
          <a:p>
            <a:pPr algn="just">
              <a:lnSpc>
                <a:spcPct val="150000"/>
              </a:lnSpc>
            </a:pPr>
            <a:r>
              <a:rPr lang="en-US" altLang="en-US" sz="2500">
                <a:latin typeface="Times New Roman" panose="02020603050405020304" charset="0"/>
                <a:cs typeface="Times New Roman" panose="02020603050405020304" charset="0"/>
              </a:rPr>
              <a:t>Many train passengers do not know the exact location of their train. Delay and platform information is often unclear or received too late. Most applications require continuous internet connection to work properly. Passengers face difficulties during emergencies while traveling.</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14400" y="609600"/>
            <a:ext cx="8289925" cy="1314450"/>
          </a:xfrm>
          <a:prstGeom prst="rect">
            <a:avLst/>
          </a:prstGeom>
          <a:noFill/>
        </p:spPr>
        <p:txBody>
          <a:bodyPr wrap="square" rtlCol="0" anchor="t">
            <a:noAutofit/>
          </a:bodyPr>
          <a:p>
            <a:pPr algn="ctr">
              <a:lnSpc>
                <a:spcPts val="5120"/>
              </a:lnSpc>
            </a:pPr>
            <a:r>
              <a:rPr lang="en-IN" alt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Objective</a:t>
            </a:r>
            <a:endParaRPr lang="en-IN" alt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Text Box 2"/>
          <p:cNvSpPr txBox="1"/>
          <p:nvPr/>
        </p:nvSpPr>
        <p:spPr>
          <a:xfrm>
            <a:off x="1143000" y="1752600"/>
            <a:ext cx="7828280" cy="4130675"/>
          </a:xfrm>
          <a:prstGeom prst="rect">
            <a:avLst/>
          </a:prstGeom>
          <a:noFill/>
        </p:spPr>
        <p:txBody>
          <a:bodyPr wrap="square" rtlCol="0">
            <a:spAutoFit/>
          </a:bodyPr>
          <a:p>
            <a:pPr marL="285750" indent="-285750" algn="just">
              <a:lnSpc>
                <a:spcPct val="150000"/>
              </a:lnSpc>
              <a:buFont typeface="Wingdings" panose="05000000000000000000" charset="0"/>
              <a:buChar char="Ø"/>
            </a:pPr>
            <a:r>
              <a:rPr lang="en-US" altLang="en-US" sz="2500">
                <a:latin typeface="Times New Roman" panose="02020603050405020304" charset="0"/>
                <a:cs typeface="Times New Roman" panose="02020603050405020304" charset="0"/>
              </a:rPr>
              <a:t>The main objective of TrackMyTrain is to provide accurate train information to users.</a:t>
            </a:r>
            <a:endParaRPr lang="en-US" altLang="en-US" sz="2500">
              <a:latin typeface="Times New Roman" panose="02020603050405020304" charset="0"/>
              <a:cs typeface="Times New Roman" panose="02020603050405020304" charset="0"/>
            </a:endParaRPr>
          </a:p>
          <a:p>
            <a:pPr marL="285750" indent="-285750" algn="just">
              <a:lnSpc>
                <a:spcPct val="150000"/>
              </a:lnSpc>
              <a:buFont typeface="Wingdings" panose="05000000000000000000" charset="0"/>
              <a:buChar char="Ø"/>
            </a:pPr>
            <a:r>
              <a:rPr lang="en-US" altLang="en-US" sz="2500">
                <a:latin typeface="Times New Roman" panose="02020603050405020304" charset="0"/>
                <a:cs typeface="Times New Roman" panose="02020603050405020304" charset="0"/>
              </a:rPr>
              <a:t>To track live train location and display it on a map.</a:t>
            </a:r>
            <a:endParaRPr lang="en-US" altLang="en-US" sz="2500">
              <a:latin typeface="Times New Roman" panose="02020603050405020304" charset="0"/>
              <a:cs typeface="Times New Roman" panose="02020603050405020304" charset="0"/>
            </a:endParaRPr>
          </a:p>
          <a:p>
            <a:pPr marL="285750" indent="-285750" algn="just">
              <a:lnSpc>
                <a:spcPct val="150000"/>
              </a:lnSpc>
              <a:buFont typeface="Wingdings" panose="05000000000000000000" charset="0"/>
              <a:buChar char="Ø"/>
            </a:pPr>
            <a:r>
              <a:rPr lang="en-US" altLang="en-US" sz="2500">
                <a:latin typeface="Times New Roman" panose="02020603050405020304" charset="0"/>
                <a:cs typeface="Times New Roman" panose="02020603050405020304" charset="0"/>
              </a:rPr>
              <a:t>To send timely notifications about train arrival and delays.</a:t>
            </a:r>
            <a:endParaRPr lang="en-US" altLang="en-US" sz="2500">
              <a:latin typeface="Times New Roman" panose="02020603050405020304" charset="0"/>
              <a:cs typeface="Times New Roman" panose="02020603050405020304" charset="0"/>
            </a:endParaRPr>
          </a:p>
          <a:p>
            <a:pPr marL="285750" indent="-285750" algn="just">
              <a:lnSpc>
                <a:spcPct val="150000"/>
              </a:lnSpc>
              <a:buFont typeface="Wingdings" panose="05000000000000000000" charset="0"/>
              <a:buChar char="Ø"/>
            </a:pPr>
            <a:r>
              <a:rPr lang="en-US" altLang="en-US" sz="2500">
                <a:latin typeface="Times New Roman" panose="02020603050405020304" charset="0"/>
                <a:cs typeface="Times New Roman" panose="02020603050405020304" charset="0"/>
              </a:rPr>
              <a:t>To allow access to important information in offline mode.</a:t>
            </a:r>
            <a:endParaRPr lang="en-US" altLang="en-US" sz="2500">
              <a:latin typeface="Times New Roman" panose="02020603050405020304" charset="0"/>
              <a:cs typeface="Times New Roman" panose="02020603050405020304" charset="0"/>
            </a:endParaRPr>
          </a:p>
          <a:p>
            <a:pPr marL="285750" indent="-285750" algn="just">
              <a:lnSpc>
                <a:spcPct val="150000"/>
              </a:lnSpc>
              <a:buFont typeface="Wingdings" panose="05000000000000000000" charset="0"/>
              <a:buChar char="Ø"/>
            </a:pPr>
            <a:r>
              <a:rPr lang="en-US" altLang="en-US" sz="2500">
                <a:latin typeface="Times New Roman" panose="02020603050405020304" charset="0"/>
                <a:cs typeface="Times New Roman" panose="02020603050405020304" charset="0"/>
              </a:rPr>
              <a:t>To improve passenger safety and overall travel experience</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8332" y="1600332"/>
            <a:ext cx="9252486" cy="4616450"/>
          </a:xfrm>
          <a:prstGeom prst="rect">
            <a:avLst/>
          </a:prstGeom>
        </p:spPr>
        <p:txBody>
          <a:bodyPr lIns="0" tIns="0" rIns="0" bIns="0" rtlCol="0" anchor="t">
            <a:spAutoFit/>
          </a:bodyPr>
          <a:lstStyle/>
          <a:p>
            <a:pPr marL="770255" lvl="1" indent="-384810" algn="just">
              <a:lnSpc>
                <a:spcPct val="150000"/>
              </a:lnSpc>
              <a:buFont typeface="Arial" panose="020B0604020202020204"/>
              <a:buChar char="•"/>
            </a:pPr>
            <a:r>
              <a:rPr lang="en-US" alt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rPr>
              <a:t>Train information is collected from multiple sources, which leads to confusion and inconsistency.</a:t>
            </a:r>
            <a:endParaRPr lang="en-US" alt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70255" lvl="1" indent="-384810" algn="just">
              <a:lnSpc>
                <a:spcPct val="150000"/>
              </a:lnSpc>
              <a:buFont typeface="Arial" panose="020B0604020202020204"/>
              <a:buChar char="•"/>
            </a:pPr>
            <a:r>
              <a:rPr lang="en-US" alt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rPr>
              <a:t>Network issues affect real-time updates and cause delays in information delivery.</a:t>
            </a:r>
            <a:endParaRPr lang="en-US" alt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70255" lvl="1" indent="-384810" algn="just">
              <a:lnSpc>
                <a:spcPct val="150000"/>
              </a:lnSpc>
              <a:buFont typeface="Arial" panose="020B0604020202020204"/>
              <a:buChar char="•"/>
            </a:pPr>
            <a:r>
              <a:rPr lang="en-US" alt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applications are not designed to work effectively in offline conditions.</a:t>
            </a:r>
            <a:endParaRPr lang="en-US" alt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70255" lvl="1" indent="-384810" algn="just">
              <a:lnSpc>
                <a:spcPct val="150000"/>
              </a:lnSpc>
              <a:buFont typeface="Arial" panose="020B0604020202020204"/>
              <a:buChar char="•"/>
            </a:pPr>
            <a:r>
              <a:rPr lang="en-US" alt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rPr>
              <a:t>Emergency features are not well integrated or easily accessible for users.</a:t>
            </a:r>
            <a:endParaRPr lang="en-US" alt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3" name="Group 3"/>
          <p:cNvGrpSpPr/>
          <p:nvPr/>
        </p:nvGrpSpPr>
        <p:grpSpPr>
          <a:xfrm rot="0">
            <a:off x="487680" y="292946"/>
            <a:ext cx="8778240" cy="1219200"/>
            <a:chOff x="0" y="0"/>
            <a:chExt cx="11704320" cy="1625600"/>
          </a:xfrm>
        </p:grpSpPr>
        <p:sp>
          <p:nvSpPr>
            <p:cNvPr id="4" name="Freeform 4"/>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5" name="TextBox 5"/>
            <p:cNvSpPr txBox="1"/>
            <p:nvPr/>
          </p:nvSpPr>
          <p:spPr>
            <a:xfrm>
              <a:off x="0" y="-85725"/>
              <a:ext cx="11704320" cy="1711325"/>
            </a:xfrm>
            <a:prstGeom prst="rect">
              <a:avLst/>
            </a:prstGeom>
          </p:spPr>
          <p:txBody>
            <a:bodyPr lIns="0" tIns="0" rIns="0" bIns="0" rtlCol="0" anchor="ctr"/>
            <a:lstStyle/>
            <a:p>
              <a:pPr algn="ctr">
                <a:lnSpc>
                  <a:spcPts val="5120"/>
                </a:lnSpc>
              </a:pPr>
              <a:r>
                <a:rPr 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Problem Analysis</a:t>
              </a:r>
              <a:endParaRPr 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487680" y="-504825"/>
            <a:ext cx="8778240" cy="1967865"/>
            <a:chOff x="0" y="-998220"/>
            <a:chExt cx="11704320" cy="262382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98220"/>
              <a:ext cx="11704320" cy="2623820"/>
            </a:xfrm>
            <a:prstGeom prst="rect">
              <a:avLst/>
            </a:prstGeom>
          </p:spPr>
          <p:txBody>
            <a:bodyPr lIns="0" tIns="0" rIns="0" bIns="0" rtlCol="0" anchor="ctr"/>
            <a:lstStyle/>
            <a:p>
              <a:pPr algn="ctr">
                <a:lnSpc>
                  <a:spcPts val="5120"/>
                </a:lnSpc>
              </a:pPr>
              <a:r>
                <a:rPr 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Flow Diagrams </a:t>
              </a:r>
              <a:endParaRPr 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pic>
        <p:nvPicPr>
          <p:cNvPr id="7" name="Picture 6"/>
          <p:cNvPicPr/>
          <p:nvPr/>
        </p:nvPicPr>
        <p:blipFill>
          <a:blip r:embed="rId1"/>
          <a:stretch>
            <a:fillRect/>
          </a:stretch>
        </p:blipFill>
        <p:spPr>
          <a:xfrm>
            <a:off x="2391410" y="1064260"/>
            <a:ext cx="5018405" cy="55181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487680" y="243840"/>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85725"/>
              <a:ext cx="11704320" cy="1711325"/>
            </a:xfrm>
            <a:prstGeom prst="rect">
              <a:avLst/>
            </a:prstGeom>
          </p:spPr>
          <p:txBody>
            <a:bodyPr lIns="0" tIns="0" rIns="0" bIns="0" rtlCol="0" anchor="ctr"/>
            <a:lstStyle/>
            <a:p>
              <a:pPr algn="ctr">
                <a:lnSpc>
                  <a:spcPts val="5120"/>
                </a:lnSpc>
              </a:pPr>
              <a:r>
                <a:rPr 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Module Design</a:t>
              </a:r>
              <a:endParaRPr lang="en-US" sz="426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5" name="TextBox 5"/>
          <p:cNvSpPr txBox="1"/>
          <p:nvPr/>
        </p:nvSpPr>
        <p:spPr>
          <a:xfrm>
            <a:off x="838242" y="1463166"/>
            <a:ext cx="8595390" cy="4986020"/>
          </a:xfrm>
          <a:prstGeom prst="rect">
            <a:avLst/>
          </a:prstGeom>
        </p:spPr>
        <p:txBody>
          <a:bodyPr lIns="0" tIns="0" rIns="0" bIns="0" rtlCol="0" anchor="t">
            <a:spAutoFit/>
          </a:bodyPr>
          <a:lstStyle/>
          <a:p>
            <a:pPr marL="758825" lvl="1" indent="-379095" algn="just">
              <a:lnSpc>
                <a:spcPct val="150000"/>
              </a:lnSpc>
              <a:buFont typeface="Arial" panose="020B0604020202020204"/>
              <a:buChar char="•"/>
            </a:pPr>
            <a:r>
              <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rPr>
              <a:t>Train Information module</a:t>
            </a:r>
            <a:endPar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758825" lvl="1" indent="-379095" algn="just">
              <a:lnSpc>
                <a:spcPct val="150000"/>
              </a:lnSpc>
              <a:buFont typeface="Arial" panose="020B0604020202020204"/>
              <a:buChar char="•"/>
            </a:pPr>
            <a:r>
              <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rPr>
              <a:t>live Tracking and map module</a:t>
            </a:r>
            <a:endPar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758825" lvl="1" indent="-379095" algn="just">
              <a:lnSpc>
                <a:spcPct val="150000"/>
              </a:lnSpc>
              <a:buFont typeface="Arial" panose="020B0604020202020204"/>
              <a:buChar char="•"/>
            </a:pPr>
            <a:r>
              <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rPr>
              <a:t>User Authentication module</a:t>
            </a:r>
            <a:endPar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758825" lvl="1" indent="-379095" algn="just">
              <a:lnSpc>
                <a:spcPct val="150000"/>
              </a:lnSpc>
              <a:buFont typeface="Arial" panose="020B0604020202020204"/>
              <a:buChar char="•"/>
            </a:pPr>
            <a:r>
              <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rPr>
              <a:t>Notification module</a:t>
            </a:r>
            <a:endPar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758825" lvl="1" indent="-379095" algn="just">
              <a:lnSpc>
                <a:spcPct val="150000"/>
              </a:lnSpc>
              <a:buFont typeface="Arial" panose="020B0604020202020204"/>
              <a:buChar char="•"/>
            </a:pPr>
            <a:r>
              <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rPr>
              <a:t>Offline Module</a:t>
            </a:r>
            <a:endPar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758825" lvl="1" indent="-379095" algn="just">
              <a:lnSpc>
                <a:spcPct val="150000"/>
              </a:lnSpc>
              <a:buFont typeface="Arial" panose="020B0604020202020204"/>
              <a:buChar char="•"/>
            </a:pPr>
            <a:r>
              <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rPr>
              <a:t>Data management Module</a:t>
            </a:r>
            <a:endParaRPr lang="en-US" altLang="en-US" sz="360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81000" y="228441"/>
            <a:ext cx="8930640" cy="1554639"/>
            <a:chOff x="-203200" y="-447252"/>
            <a:chExt cx="11907520" cy="2072852"/>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203200" y="-447252"/>
              <a:ext cx="11704320" cy="1711325"/>
            </a:xfrm>
            <a:prstGeom prst="rect">
              <a:avLst/>
            </a:prstGeom>
          </p:spPr>
          <p:txBody>
            <a:bodyPr lIns="0" tIns="0" rIns="0" bIns="0" rtlCol="0" anchor="ctr"/>
            <a:lstStyle/>
            <a:p>
              <a:pPr marL="379730" lvl="1" indent="0" algn="ctr">
                <a:lnSpc>
                  <a:spcPct val="150000"/>
                </a:lnSpc>
                <a:buFont typeface="Arial" panose="020B0604020202020204"/>
                <a:buNone/>
              </a:pPr>
              <a:r>
                <a:rPr lang="en-US" altLang="en-US" sz="4265" b="1">
                  <a:solidFill>
                    <a:srgbClr val="000000"/>
                  </a:solidFill>
                  <a:latin typeface="Times New Roman" panose="02020603050405020304" charset="0"/>
                  <a:ea typeface="Times New Roman Bold" panose="02030802070405020303"/>
                  <a:cs typeface="Times New Roman" panose="02020603050405020304" charset="0"/>
                  <a:sym typeface="+mn-ea"/>
                </a:rPr>
                <a:t>Train Information Module</a:t>
              </a:r>
              <a:endParaRPr lang="en-US" altLang="en-US" sz="4265" b="1">
                <a:solidFill>
                  <a:srgbClr val="000000"/>
                </a:solidFill>
                <a:latin typeface="Times New Roman" panose="02020603050405020304" charset="0"/>
                <a:ea typeface="Times New Roman Bold" panose="02030802070405020303"/>
                <a:cs typeface="Times New Roman" panose="02020603050405020304" charset="0"/>
                <a:sym typeface="+mn-ea"/>
              </a:endParaRPr>
            </a:p>
          </p:txBody>
        </p:sp>
      </p:grpSp>
      <p:sp>
        <p:nvSpPr>
          <p:cNvPr id="6" name="Text Box 5"/>
          <p:cNvSpPr txBox="1"/>
          <p:nvPr/>
        </p:nvSpPr>
        <p:spPr>
          <a:xfrm>
            <a:off x="533400" y="1981200"/>
            <a:ext cx="8416290" cy="4939030"/>
          </a:xfrm>
          <a:prstGeom prst="rect">
            <a:avLst/>
          </a:prstGeom>
          <a:noFill/>
        </p:spPr>
        <p:txBody>
          <a:bodyPr wrap="square" rtlCol="0">
            <a:spAutoFit/>
          </a:bodyPr>
          <a:p>
            <a:pPr marL="457200" indent="-457200" algn="just">
              <a:lnSpc>
                <a:spcPct val="150000"/>
              </a:lnSpc>
              <a:buFont typeface="Arial" panose="020B0604020202020204" pitchFamily="34" charset="0"/>
              <a:buChar char="•"/>
            </a:pPr>
            <a:r>
              <a:rPr lang="en-US" altLang="en-US" sz="3000">
                <a:latin typeface="Times New Roman" panose="02020603050405020304" charset="0"/>
                <a:cs typeface="Times New Roman" panose="02020603050405020304" charset="0"/>
              </a:rPr>
              <a:t>This module provides basic and static train details to users.</a:t>
            </a:r>
            <a:endParaRPr lang="en-US" altLang="en-US" sz="3000">
              <a:latin typeface="Times New Roman" panose="02020603050405020304" charset="0"/>
              <a:cs typeface="Times New Roman" panose="02020603050405020304" charset="0"/>
            </a:endParaRPr>
          </a:p>
          <a:p>
            <a:pPr marL="457200" indent="-457200" algn="just">
              <a:lnSpc>
                <a:spcPct val="150000"/>
              </a:lnSpc>
              <a:buFont typeface="Arial" panose="020B0604020202020204" pitchFamily="34" charset="0"/>
              <a:buChar char="•"/>
            </a:pPr>
            <a:r>
              <a:rPr lang="en-US" altLang="en-US" sz="3000">
                <a:latin typeface="Times New Roman" panose="02020603050405020304" charset="0"/>
                <a:cs typeface="Times New Roman" panose="02020603050405020304" charset="0"/>
              </a:rPr>
              <a:t>It includes train number, name, schedule, route, and station information.</a:t>
            </a:r>
            <a:endParaRPr lang="en-US" altLang="en-US" sz="3000">
              <a:latin typeface="Times New Roman" panose="02020603050405020304" charset="0"/>
              <a:cs typeface="Times New Roman" panose="02020603050405020304" charset="0"/>
            </a:endParaRPr>
          </a:p>
          <a:p>
            <a:pPr marL="457200" indent="-457200" algn="just">
              <a:lnSpc>
                <a:spcPct val="150000"/>
              </a:lnSpc>
              <a:buFont typeface="Arial" panose="020B0604020202020204" pitchFamily="34" charset="0"/>
              <a:buChar char="•"/>
            </a:pPr>
            <a:r>
              <a:rPr lang="en-US" altLang="en-US" sz="3000">
                <a:latin typeface="Times New Roman" panose="02020603050405020304" charset="0"/>
                <a:cs typeface="Times New Roman" panose="02020603050405020304" charset="0"/>
              </a:rPr>
              <a:t>The data helps users understand the complete journey plan.</a:t>
            </a:r>
            <a:endParaRPr lang="en-US" altLang="en-US" sz="3000">
              <a:latin typeface="Times New Roman" panose="02020603050405020304" charset="0"/>
              <a:cs typeface="Times New Roman" panose="02020603050405020304" charset="0"/>
            </a:endParaRPr>
          </a:p>
          <a:p>
            <a:pPr marL="457200" indent="-457200" algn="just">
              <a:lnSpc>
                <a:spcPct val="150000"/>
              </a:lnSpc>
              <a:buFont typeface="Arial" panose="020B0604020202020204" pitchFamily="34" charset="0"/>
              <a:buChar char="•"/>
            </a:pPr>
            <a:r>
              <a:rPr lang="en-US" altLang="en-US" sz="3000">
                <a:latin typeface="Times New Roman" panose="02020603050405020304" charset="0"/>
                <a:cs typeface="Times New Roman" panose="02020603050405020304" charset="0"/>
              </a:rPr>
              <a:t>It is used as the foundation for other modules.</a:t>
            </a:r>
            <a:endParaRPr lang="en-US" altLang="en-US" sz="30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520" y="1847966"/>
            <a:ext cx="8290560" cy="4847590"/>
          </a:xfrm>
          <a:prstGeom prst="rect">
            <a:avLst/>
          </a:prstGeom>
        </p:spPr>
        <p:txBody>
          <a:bodyPr lIns="0" tIns="0" rIns="0" bIns="0" rtlCol="0" anchor="t">
            <a:spAutoFit/>
          </a:bodyPr>
          <a:lstStyle/>
          <a:p>
            <a:pPr marL="777240" lvl="1" indent="-388620" algn="just">
              <a:lnSpc>
                <a:spcPct val="150000"/>
              </a:lnSpc>
              <a:buFont typeface="Arial" panose="020B0604020202020204"/>
              <a:buChar char="•"/>
            </a:pPr>
            <a:r>
              <a:rPr lang="en-US" altLang="en-US" sz="3000">
                <a:solidFill>
                  <a:schemeClr val="tx1"/>
                </a:solidFill>
                <a:latin typeface="Times New Roman" panose="02020603050405020304"/>
                <a:ea typeface="Times New Roman" panose="02020603050405020304"/>
                <a:cs typeface="Times New Roman" panose="02020603050405020304"/>
                <a:sym typeface="Times New Roman" panose="02020603050405020304"/>
              </a:rPr>
              <a:t>This module tracks the real-time location of the train.</a:t>
            </a:r>
            <a:endParaRPr lang="en-US" altLang="en-US" sz="3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just">
              <a:lnSpc>
                <a:spcPct val="150000"/>
              </a:lnSpc>
              <a:buFont typeface="Arial" panose="020B0604020202020204"/>
              <a:buChar char="•"/>
            </a:pPr>
            <a:r>
              <a:rPr lang="en-US" altLang="en-US" sz="3000">
                <a:solidFill>
                  <a:schemeClr val="tx1"/>
                </a:solidFill>
                <a:latin typeface="Times New Roman" panose="02020603050405020304"/>
                <a:ea typeface="Times New Roman" panose="02020603050405020304"/>
                <a:cs typeface="Times New Roman" panose="02020603050405020304"/>
                <a:sym typeface="Times New Roman" panose="02020603050405020304"/>
              </a:rPr>
              <a:t>It shows current status, delay, and next station details.</a:t>
            </a:r>
            <a:endParaRPr lang="en-US" altLang="en-US" sz="3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just">
              <a:lnSpc>
                <a:spcPct val="150000"/>
              </a:lnSpc>
              <a:buFont typeface="Arial" panose="020B0604020202020204"/>
              <a:buChar char="•"/>
            </a:pPr>
            <a:r>
              <a:rPr lang="en-US" altLang="en-US" sz="3000">
                <a:solidFill>
                  <a:schemeClr val="tx1"/>
                </a:solidFill>
                <a:latin typeface="Times New Roman" panose="02020603050405020304"/>
                <a:ea typeface="Times New Roman" panose="02020603050405020304"/>
                <a:cs typeface="Times New Roman" panose="02020603050405020304"/>
                <a:sym typeface="Times New Roman" panose="02020603050405020304"/>
              </a:rPr>
              <a:t>Google Maps is used to display the train visually on the map.</a:t>
            </a:r>
            <a:endParaRPr lang="en-US" altLang="en-US" sz="3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just">
              <a:lnSpc>
                <a:spcPct val="150000"/>
              </a:lnSpc>
              <a:buFont typeface="Arial" panose="020B0604020202020204"/>
              <a:buChar char="•"/>
            </a:pPr>
            <a:r>
              <a:rPr lang="en-US" altLang="en-US" sz="3000">
                <a:solidFill>
                  <a:schemeClr val="tx1"/>
                </a:solidFill>
                <a:latin typeface="Times New Roman" panose="02020603050405020304"/>
                <a:ea typeface="Times New Roman" panose="02020603050405020304"/>
                <a:cs typeface="Times New Roman" panose="02020603050405020304"/>
                <a:sym typeface="Times New Roman" panose="02020603050405020304"/>
              </a:rPr>
              <a:t>It helps users monitor train movement accurately.</a:t>
            </a:r>
            <a:endParaRPr lang="en-US" altLang="en-US" sz="300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3" name="Group 3"/>
          <p:cNvGrpSpPr/>
          <p:nvPr/>
        </p:nvGrpSpPr>
        <p:grpSpPr>
          <a:xfrm rot="0">
            <a:off x="457200" y="0"/>
            <a:ext cx="8808720" cy="1588135"/>
            <a:chOff x="-40640" y="0"/>
            <a:chExt cx="11744960" cy="2117513"/>
          </a:xfrm>
        </p:grpSpPr>
        <p:sp>
          <p:nvSpPr>
            <p:cNvPr id="4" name="Freeform 4"/>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5" name="TextBox 5"/>
            <p:cNvSpPr txBox="1"/>
            <p:nvPr/>
          </p:nvSpPr>
          <p:spPr>
            <a:xfrm>
              <a:off x="-40640" y="406188"/>
              <a:ext cx="11704320" cy="1711325"/>
            </a:xfrm>
            <a:prstGeom prst="rect">
              <a:avLst/>
            </a:prstGeom>
          </p:spPr>
          <p:txBody>
            <a:bodyPr lIns="0" tIns="0" rIns="0" bIns="0" rtlCol="0" anchor="ctr"/>
            <a:lstStyle/>
            <a:p>
              <a:pPr marL="379730" lvl="1" indent="0" algn="ctr">
                <a:lnSpc>
                  <a:spcPct val="150000"/>
                </a:lnSpc>
                <a:buFont typeface="Arial" panose="020B0604020202020204"/>
                <a:buNone/>
              </a:pPr>
              <a:r>
                <a:rPr lang="en-US" altLang="en-US" sz="4265" b="1">
                  <a:solidFill>
                    <a:srgbClr val="000000"/>
                  </a:solidFill>
                  <a:latin typeface="Times New Roman" panose="02020603050405020304" charset="0"/>
                  <a:ea typeface="Times New Roman Bold" panose="02030802070405020303"/>
                  <a:cs typeface="Times New Roman" panose="02020603050405020304" charset="0"/>
                  <a:sym typeface="+mn-ea"/>
                </a:rPr>
                <a:t>Live Tracking and Map Module</a:t>
              </a:r>
              <a:endParaRPr lang="en-US" altLang="en-US" sz="4265" b="1">
                <a:solidFill>
                  <a:srgbClr val="000000"/>
                </a:solidFill>
                <a:latin typeface="Times New Roman" panose="02020603050405020304" charset="0"/>
                <a:ea typeface="Times New Roman Bold" panose="02030802070405020303"/>
                <a:cs typeface="Times New Roman" panose="02020603050405020304" charset="0"/>
                <a:sym typeface="+mn-e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IN" altLang="en-US" b="1">
                <a:latin typeface="Times New Roman" panose="02020603050405020304" charset="0"/>
                <a:cs typeface="Times New Roman" panose="02020603050405020304" charset="0"/>
              </a:rPr>
              <a:t>Future Scope</a:t>
            </a:r>
            <a:endParaRPr lang="en-IN" altLang="en-US" b="1">
              <a:latin typeface="Times New Roman" panose="02020603050405020304" charset="0"/>
              <a:cs typeface="Times New Roman" panose="02020603050405020304" charset="0"/>
            </a:endParaRPr>
          </a:p>
        </p:txBody>
      </p:sp>
      <p:sp>
        <p:nvSpPr>
          <p:cNvPr id="5" name="Content Placeholder 4"/>
          <p:cNvSpPr>
            <a:spLocks noGrp="1"/>
          </p:cNvSpPr>
          <p:nvPr>
            <p:ph idx="1"/>
          </p:nvPr>
        </p:nvSpPr>
        <p:spPr/>
        <p:txBody>
          <a:bodyPr>
            <a:noAutofit/>
          </a:bodyPr>
          <a:p>
            <a:pPr algn="just">
              <a:lnSpc>
                <a:spcPct val="150000"/>
              </a:lnSpc>
            </a:pPr>
            <a:r>
              <a:rPr lang="en-US" altLang="en-US" sz="2400">
                <a:latin typeface="Times New Roman" panose="02020603050405020304" charset="0"/>
                <a:cs typeface="Times New Roman" panose="02020603050405020304" charset="0"/>
              </a:rPr>
              <a:t>The app can be enhanced with AI-based delay prediction for more accurate arrival times.</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Integration with ticket booking and seat availability can be added for full travel support.</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Voice assistant support can help users get train updates hands-free.</a:t>
            </a:r>
            <a:endParaRPr lang="en-US" altLang="en-US" sz="2400">
              <a:latin typeface="Times New Roman" panose="02020603050405020304" charset="0"/>
              <a:cs typeface="Times New Roman" panose="02020603050405020304" charset="0"/>
            </a:endParaRPr>
          </a:p>
          <a:p>
            <a:pPr algn="just">
              <a:lnSpc>
                <a:spcPct val="150000"/>
              </a:lnSpc>
            </a:pPr>
            <a:r>
              <a:rPr lang="en-US" altLang="en-US" sz="2400">
                <a:latin typeface="Times New Roman" panose="02020603050405020304" charset="0"/>
                <a:cs typeface="Times New Roman" panose="02020603050405020304" charset="0"/>
              </a:rPr>
              <a:t>Multi-language support can make the app usable for more people.</a:t>
            </a:r>
            <a:endParaRPr lang="en-US" altLang="en-US" sz="2400">
              <a:latin typeface="Times New Roman" panose="02020603050405020304" charset="0"/>
              <a:cs typeface="Times New Roman" panose="02020603050405020304" charset="0"/>
            </a:endParaRPr>
          </a:p>
          <a:p>
            <a:pPr marL="0" indent="0" algn="just">
              <a:lnSpc>
                <a:spcPct val="150000"/>
              </a:lnSpc>
              <a:buNone/>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panose="02020603050405020304" charset="0"/>
                <a:cs typeface="Times New Roman" panose="02020603050405020304" charset="0"/>
                <a:sym typeface="+mn-ea"/>
              </a:rPr>
              <a:t>Proposed Tools &amp; Technologies: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fontScale="25000"/>
          </a:bodyPr>
          <a:p>
            <a:pPr marL="0" indent="0">
              <a:lnSpc>
                <a:spcPct val="150000"/>
              </a:lnSpc>
              <a:buNone/>
            </a:pPr>
            <a:r>
              <a:rPr lang="en-US" altLang="en-US" sz="8000" b="1">
                <a:latin typeface="Times New Roman" panose="02020603050405020304" charset="0"/>
                <a:cs typeface="Times New Roman" panose="02020603050405020304" charset="0"/>
              </a:rPr>
              <a:t>Programming Language:</a:t>
            </a:r>
            <a:endParaRPr lang="en-US" altLang="en-US" sz="8000" b="1">
              <a:latin typeface="Times New Roman" panose="02020603050405020304" charset="0"/>
              <a:cs typeface="Times New Roman" panose="02020603050405020304" charset="0"/>
            </a:endParaRPr>
          </a:p>
          <a:p>
            <a:pPr marL="0" indent="0">
              <a:lnSpc>
                <a:spcPct val="150000"/>
              </a:lnSpc>
              <a:buNone/>
            </a:pPr>
            <a:r>
              <a:rPr lang="en-US" altLang="en-US" sz="8000">
                <a:latin typeface="Times New Roman" panose="02020603050405020304" charset="0"/>
                <a:cs typeface="Times New Roman" panose="02020603050405020304" charset="0"/>
              </a:rPr>
              <a:t>Java / Kotlin (Android), JavaScript (Backend)</a:t>
            </a:r>
            <a:endParaRPr lang="en-US" altLang="en-US" sz="8000">
              <a:latin typeface="Times New Roman" panose="02020603050405020304" charset="0"/>
              <a:cs typeface="Times New Roman" panose="02020603050405020304" charset="0"/>
            </a:endParaRPr>
          </a:p>
          <a:p>
            <a:pPr marL="0" indent="0">
              <a:lnSpc>
                <a:spcPct val="150000"/>
              </a:lnSpc>
              <a:buNone/>
            </a:pPr>
            <a:r>
              <a:rPr lang="en-US" altLang="en-US" sz="8000" b="1">
                <a:latin typeface="Times New Roman" panose="02020603050405020304" charset="0"/>
                <a:cs typeface="Times New Roman" panose="02020603050405020304" charset="0"/>
              </a:rPr>
              <a:t>Frameworks:</a:t>
            </a:r>
            <a:endParaRPr lang="en-US" altLang="en-US" sz="8000" b="1">
              <a:latin typeface="Times New Roman" panose="02020603050405020304" charset="0"/>
              <a:cs typeface="Times New Roman" panose="02020603050405020304" charset="0"/>
            </a:endParaRPr>
          </a:p>
          <a:p>
            <a:pPr marL="0" indent="0">
              <a:lnSpc>
                <a:spcPct val="150000"/>
              </a:lnSpc>
              <a:buNone/>
            </a:pPr>
            <a:r>
              <a:rPr lang="en-US" altLang="en-US" sz="8000">
                <a:latin typeface="Times New Roman" panose="02020603050405020304" charset="0"/>
                <a:cs typeface="Times New Roman" panose="02020603050405020304" charset="0"/>
              </a:rPr>
              <a:t>Android SDK, Material Design, Node.js, Express.js, Google Maps SDK</a:t>
            </a:r>
            <a:endParaRPr lang="en-US" altLang="en-US" sz="8000">
              <a:latin typeface="Times New Roman" panose="02020603050405020304" charset="0"/>
              <a:cs typeface="Times New Roman" panose="02020603050405020304" charset="0"/>
            </a:endParaRPr>
          </a:p>
          <a:p>
            <a:pPr marL="0" indent="0">
              <a:lnSpc>
                <a:spcPct val="150000"/>
              </a:lnSpc>
              <a:buNone/>
            </a:pPr>
            <a:r>
              <a:rPr lang="en-US" altLang="en-US" sz="8000" b="1">
                <a:latin typeface="Times New Roman" panose="02020603050405020304" charset="0"/>
                <a:cs typeface="Times New Roman" panose="02020603050405020304" charset="0"/>
              </a:rPr>
              <a:t>Database:</a:t>
            </a:r>
            <a:endParaRPr lang="en-US" altLang="en-US" sz="8000" b="1">
              <a:latin typeface="Times New Roman" panose="02020603050405020304" charset="0"/>
              <a:cs typeface="Times New Roman" panose="02020603050405020304" charset="0"/>
            </a:endParaRPr>
          </a:p>
          <a:p>
            <a:pPr marL="0" indent="0">
              <a:lnSpc>
                <a:spcPct val="150000"/>
              </a:lnSpc>
              <a:buNone/>
            </a:pPr>
            <a:r>
              <a:rPr lang="en-US" altLang="en-US" sz="8000">
                <a:latin typeface="Times New Roman" panose="02020603050405020304" charset="0"/>
                <a:cs typeface="Times New Roman" panose="02020603050405020304" charset="0"/>
              </a:rPr>
              <a:t>MongoDB Atlas (Cloud), SQLite / SharedPreferences (Offline)</a:t>
            </a:r>
            <a:endParaRPr lang="en-US" altLang="en-US" sz="8000">
              <a:latin typeface="Times New Roman" panose="02020603050405020304" charset="0"/>
              <a:cs typeface="Times New Roman" panose="02020603050405020304" charset="0"/>
            </a:endParaRPr>
          </a:p>
          <a:p>
            <a:pPr marL="0" indent="0">
              <a:lnSpc>
                <a:spcPct val="150000"/>
              </a:lnSpc>
              <a:buNone/>
            </a:pPr>
            <a:r>
              <a:rPr lang="en-US" altLang="en-US" sz="8000" b="1">
                <a:latin typeface="Times New Roman" panose="02020603050405020304" charset="0"/>
                <a:cs typeface="Times New Roman" panose="02020603050405020304" charset="0"/>
              </a:rPr>
              <a:t>Software Tools:</a:t>
            </a:r>
            <a:endParaRPr lang="en-US" altLang="en-US" sz="8000" b="1">
              <a:latin typeface="Times New Roman" panose="02020603050405020304" charset="0"/>
              <a:cs typeface="Times New Roman" panose="02020603050405020304" charset="0"/>
            </a:endParaRPr>
          </a:p>
          <a:p>
            <a:pPr marL="0" indent="0">
              <a:lnSpc>
                <a:spcPct val="150000"/>
              </a:lnSpc>
              <a:buNone/>
            </a:pPr>
            <a:r>
              <a:rPr lang="en-US" altLang="en-US" sz="8000">
                <a:latin typeface="Times New Roman" panose="02020603050405020304" charset="0"/>
                <a:cs typeface="Times New Roman" panose="02020603050405020304" charset="0"/>
              </a:rPr>
              <a:t>Android Studio, Visual Studio Code, Postman</a:t>
            </a:r>
            <a:endParaRPr lang="en-US" altLang="en-US" sz="80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latin typeface="Times New Roman" panose="02020603050405020304" charset="0"/>
                <a:cs typeface="Times New Roman" panose="02020603050405020304" charset="0"/>
              </a:rPr>
              <a:t>Conc</a:t>
            </a:r>
            <a:r>
              <a:rPr lang="en-US" altLang="en-IN" b="1">
                <a:latin typeface="Times New Roman" panose="02020603050405020304" charset="0"/>
                <a:cs typeface="Times New Roman" panose="02020603050405020304" charset="0"/>
              </a:rPr>
              <a:t>lu</a:t>
            </a:r>
            <a:r>
              <a:rPr lang="en-IN" altLang="en-US" b="1">
                <a:latin typeface="Times New Roman" panose="02020603050405020304" charset="0"/>
                <a:cs typeface="Times New Roman" panose="02020603050405020304" charset="0"/>
              </a:rPr>
              <a:t>sion</a:t>
            </a:r>
            <a:endParaRPr lang="en-IN"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14400" y="1600200"/>
            <a:ext cx="8229600" cy="4525963"/>
          </a:xfrm>
        </p:spPr>
        <p:txBody>
          <a:bodyPr/>
          <a:p>
            <a:pPr marL="0" indent="0" algn="just">
              <a:lnSpc>
                <a:spcPct val="150000"/>
              </a:lnSpc>
              <a:buNone/>
            </a:pPr>
            <a:r>
              <a:rPr lang="en-US" altLang="en-US" sz="3000">
                <a:latin typeface="Times New Roman" panose="02020603050405020304" charset="0"/>
                <a:cs typeface="Times New Roman" panose="02020603050405020304" charset="0"/>
              </a:rPr>
              <a:t>This project provides a smart and reliable solution for tracking trains in real time. It improves passenger experience by offering accurate information, alerts, and offline support. Overall, the app makes train travel safer, easier, and more user-friendly.</a:t>
            </a:r>
            <a:endParaRPr lang="en-US" altLang="en-US" sz="300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latin typeface="Times New Roman" panose="02020603050405020304" charset="0"/>
                <a:cs typeface="Times New Roman" panose="02020603050405020304" charset="0"/>
              </a:rPr>
              <a:t>Reference </a:t>
            </a:r>
            <a:endParaRPr lang="en-IN"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marL="0" indent="0">
              <a:buNone/>
            </a:pPr>
            <a:r>
              <a:rPr lang="en-US" altLang="en-US" sz="3000">
                <a:latin typeface="Times New Roman" panose="02020603050405020304" charset="0"/>
                <a:cs typeface="Times New Roman" panose="02020603050405020304" charset="0"/>
              </a:rPr>
              <a:t>Indian Railways Official Website – Train schedules, routes, and railway information.</a:t>
            </a:r>
            <a:endParaRPr lang="en-US" altLang="en-US" sz="3000">
              <a:latin typeface="Times New Roman" panose="02020603050405020304" charset="0"/>
              <a:cs typeface="Times New Roman" panose="02020603050405020304" charset="0"/>
            </a:endParaRPr>
          </a:p>
          <a:p>
            <a:pPr>
              <a:buFont typeface="Wingdings" panose="05000000000000000000" charset="0"/>
              <a:buChar char="Ø"/>
            </a:pPr>
            <a:r>
              <a:rPr lang="en-US" altLang="en-US" sz="3000">
                <a:latin typeface="Times New Roman" panose="02020603050405020304" charset="0"/>
                <a:cs typeface="Times New Roman" panose="02020603050405020304" charset="0"/>
                <a:hlinkClick r:id="rId1" action="ppaction://hlinkfile"/>
              </a:rPr>
              <a:t>https://indianrailways.gov.in</a:t>
            </a:r>
            <a:endParaRPr lang="en-US" altLang="en-US" sz="3000">
              <a:latin typeface="Times New Roman" panose="02020603050405020304" charset="0"/>
              <a:cs typeface="Times New Roman" panose="02020603050405020304" charset="0"/>
              <a:hlinkClick r:id="rId1" action="ppaction://hlinkfile"/>
            </a:endParaRPr>
          </a:p>
          <a:p>
            <a:endParaRPr lang="en-US" altLang="en-US" sz="3000">
              <a:latin typeface="Times New Roman" panose="02020603050405020304" charset="0"/>
              <a:cs typeface="Times New Roman" panose="02020603050405020304" charset="0"/>
            </a:endParaRPr>
          </a:p>
          <a:p>
            <a:pPr marL="0" indent="0">
              <a:buNone/>
            </a:pPr>
            <a:r>
              <a:rPr lang="en-US" altLang="en-US" sz="3000">
                <a:latin typeface="Times New Roman" panose="02020603050405020304" charset="0"/>
                <a:cs typeface="Times New Roman" panose="02020603050405020304" charset="0"/>
              </a:rPr>
              <a:t>Google Developers Documentation – Google Maps SDK for Android.</a:t>
            </a:r>
            <a:endParaRPr lang="en-US" altLang="en-US" sz="3000">
              <a:latin typeface="Times New Roman" panose="02020603050405020304" charset="0"/>
              <a:cs typeface="Times New Roman" panose="02020603050405020304" charset="0"/>
            </a:endParaRPr>
          </a:p>
          <a:p>
            <a:pPr>
              <a:buFont typeface="Wingdings" panose="05000000000000000000" charset="0"/>
              <a:buChar char="Ø"/>
            </a:pPr>
            <a:r>
              <a:rPr lang="en-US" altLang="en-US" sz="3000">
                <a:latin typeface="Times New Roman" panose="02020603050405020304" charset="0"/>
                <a:cs typeface="Times New Roman" panose="02020603050405020304" charset="0"/>
                <a:hlinkClick r:id="rId2" action="ppaction://hlinkfile"/>
              </a:rPr>
              <a:t>https://developers.google.com/maps/documentation/android</a:t>
            </a:r>
            <a:endParaRPr lang="en-US" altLang="en-US" sz="3000">
              <a:latin typeface="Times New Roman" panose="02020603050405020304" charset="0"/>
              <a:cs typeface="Times New Roman" panose="0202060305040502030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tretch>
            <a:fillRect t="-4845" b="-7716"/>
          </a:stretch>
        </a:blipFill>
      </a:spPr>
      <a:bodyPr/>
      <a:lstStyle>
        <a:defPPr>
          <a:defRPr lang="en-GB" altLang="en-US"/>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3491</Words>
  <Application>WPS Presentation</Application>
  <PresentationFormat>On-screen Show (4:3)</PresentationFormat>
  <Paragraphs>109</Paragraphs>
  <Slides>14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Times New Roman Bold</vt:lpstr>
      <vt:lpstr>Times New Roman</vt:lpstr>
      <vt:lpstr>Times New Roman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Future Scope</vt:lpstr>
      <vt:lpstr>Proposed Tools &amp; Technologies:</vt:lpstr>
      <vt:lpstr>Conclusion</vt:lpstr>
      <vt:lpstr>Reference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8115U23CS045.pptx</dc:title>
  <dc:creator/>
  <cp:lastModifiedBy>Mithun_3270</cp:lastModifiedBy>
  <cp:revision>16</cp:revision>
  <dcterms:created xsi:type="dcterms:W3CDTF">2006-08-16T00:00:00Z</dcterms:created>
  <dcterms:modified xsi:type="dcterms:W3CDTF">2026-02-19T05:00:15Z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4284672FAA43423E874D81C79D771EDE_13</vt:lpwstr>
  </property>
  <property fmtid="{D5CDD505-2E9C-101B-9397-08002B2CF9AE}" pid="3" name="KSOProductBuildVer">
    <vt:lpwstr>1033-12.2.0.23196</vt:lpwstr>
  </property>
</Properties>
</file>